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11"/>
    <p:restoredTop sz="94659"/>
  </p:normalViewPr>
  <p:slideViewPr>
    <p:cSldViewPr snapToGrid="0" snapToObjects="1">
      <p:cViewPr varScale="1">
        <p:scale>
          <a:sx n="110" d="100"/>
          <a:sy n="110" d="100"/>
        </p:scale>
        <p:origin x="760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4/30/26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914400" y="201168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000000"/>
                </a:solidFill>
              </a:rPr>
              <a:t>Leukoaraiosis Detection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200400"/>
            <a:ext cx="100584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0" dirty="0">
                <a:solidFill>
                  <a:srgbClr val="B4B4B4"/>
                </a:solidFill>
              </a:rPr>
              <a:t>Preliminary Results — </a:t>
            </a:r>
            <a:r>
              <a:rPr lang="en-US" sz="2400" dirty="0">
                <a:solidFill>
                  <a:srgbClr val="B4B4B4"/>
                </a:solidFill>
              </a:rPr>
              <a:t>Training phase</a:t>
            </a:r>
            <a:endParaRPr sz="2400" b="0" i="0" dirty="0">
              <a:solidFill>
                <a:srgbClr val="B4B4B4"/>
              </a:solidFill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1">
                <a:solidFill>
                  <a:srgbClr val="B4B4B4"/>
                </a:solidFill>
              </a:rPr>
              <a:t>ABCD Cohort · Swin UNETR · APLoss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Leukoaraiosis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474720" y="128016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White matter lesions on MRI — linked to cognitive decline &amp; stroke risk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377439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ABCD Cohort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474720" y="2377439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15,451 adolescent subjects · 1,009 WMA cases (6.5%)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47472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Challenge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0" y="347472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Rare condition + 3D MRI volumes → standard classifiers fail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572000"/>
            <a:ext cx="2926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Goal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74720" y="4572000"/>
            <a:ext cx="8229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Automated binary detection: WMA present / absent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Data &amp; Experimental Setup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Dataset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926080" y="12801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421 subjects with MRI available  ·  50 WMA  ·  371 healthy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10312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Sampling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926080" y="210312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~10% positive rate  (balanced for training stability)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292608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Split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926080" y="292608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5-fold StratifiedGroupKFold  ·  Fold 0: 334 train / 87 val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749039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Model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26080" y="3749039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Swin UNETR encoder (62M params)  +  GAP  +  MLP head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57200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Loss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926080" y="457200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APLoss (surrogate AUPREC)  +  SOAP optimizer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394960"/>
            <a:ext cx="2377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</a:rPr>
              <a:t>Hardware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926080" y="5394960"/>
            <a:ext cx="8961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000000"/>
                </a:solidFill>
              </a:rPr>
              <a:t>NVIDIA H100 NVL  ·  ~260s / epoch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Results — Fold 0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4173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Val AUPREC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108960" y="14173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</a:rPr>
              <a:t>0.30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9202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4B4B4"/>
                </a:solidFill>
              </a:rPr>
              <a:t>Baseline (random) = 0.12  →  2.5× better than chance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Val AUROC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108960" y="27889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</a:rPr>
              <a:t>0.70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108960" y="32918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4B4B4"/>
                </a:solidFill>
              </a:rPr>
              <a:t>Decent ranking ability across threshold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16052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Train AUPREC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4160520"/>
            <a:ext cx="1371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 i="0">
                <a:solidFill>
                  <a:srgbClr val="000000"/>
                </a:solidFill>
              </a:rPr>
              <a:t>0.46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108960" y="4663440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B4B4B4"/>
                </a:solidFill>
              </a:rPr>
              <a:t>Moderate overfitting gap — expected on small dataset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What This Means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28016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05840" y="128016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The model learns real signal — AUROC 0.70 from a 62M-param encoder on 334 samples.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1460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251460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2.5× AUPREC over baseline: ranking 100 patients by score surfaces 3× more true WMA cases in the top decile.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3749039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Overfitting gap (Train 0.46 / Val 0.30) is expected — only 39 positives in training.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83480"/>
            <a:ext cx="3657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1" i="0">
                <a:solidFill>
                  <a:srgbClr val="000000"/>
                </a:solidFill>
              </a:rPr>
              <a:t>—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983480"/>
            <a:ext cx="1060704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000" b="0" i="0">
                <a:solidFill>
                  <a:srgbClr val="000000"/>
                </a:solidFill>
              </a:rPr>
              <a:t>Single fold, first hyperparameter configuration — not yet optimised.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48640" y="36576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 i="0">
                <a:solidFill>
                  <a:srgbClr val="000000"/>
                </a:solidFill>
              </a:rPr>
              <a:t>Next Steps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051560"/>
            <a:ext cx="1127455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548640" y="137160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4B4B4"/>
                </a:solidFill>
              </a:rPr>
              <a:t>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88720" y="137160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</a:rPr>
              <a:t>Run all 5 folds — average metrics for reliable estimate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256032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4B4B4"/>
                </a:solidFill>
              </a:rPr>
              <a:t>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88720" y="256032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</a:rPr>
              <a:t>Grad-CAM (Phase 4) — validate model focuses on WM regions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749039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4B4B4"/>
                </a:solidFill>
              </a:rPr>
              <a:t>3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3749039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</a:rPr>
              <a:t>Pseudo-mask generation (Phase 5) — weakly supervised segmentation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4937760"/>
            <a:ext cx="4572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B4B4B4"/>
                </a:solidFill>
              </a:rPr>
              <a:t>4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88720" y="4937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000000"/>
                </a:solidFill>
              </a:rPr>
              <a:t>Scale data — integrate more subjects as MRI files become available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55</TotalTime>
  <Words>295</Words>
  <Application>Microsoft Macintosh PowerPoint</Application>
  <PresentationFormat>Custom</PresentationFormat>
  <Paragraphs>53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Louan</cp:lastModifiedBy>
  <cp:revision>2</cp:revision>
  <dcterms:created xsi:type="dcterms:W3CDTF">2013-01-27T09:14:16Z</dcterms:created>
  <dcterms:modified xsi:type="dcterms:W3CDTF">2026-04-30T18:54:51Z</dcterms:modified>
  <cp:category/>
</cp:coreProperties>
</file>